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58" r:id="rId7"/>
    <p:sldId id="274" r:id="rId8"/>
    <p:sldId id="261" r:id="rId9"/>
    <p:sldId id="262" r:id="rId10"/>
    <p:sldId id="273" r:id="rId11"/>
    <p:sldId id="266" r:id="rId12"/>
    <p:sldId id="268" r:id="rId13"/>
    <p:sldId id="270" r:id="rId14"/>
    <p:sldId id="271" r:id="rId15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C793E0F-6EAE-D947-87E4-BAA51E60E123}">
          <p14:sldIdLst>
            <p14:sldId id="256"/>
            <p14:sldId id="257"/>
            <p14:sldId id="258"/>
            <p14:sldId id="274"/>
          </p14:sldIdLst>
        </p14:section>
        <p14:section name="Interculturalité" id="{5D6459E1-CD9C-2649-8B2A-337346421E7B}">
          <p14:sldIdLst>
            <p14:sldId id="261"/>
            <p14:sldId id="262"/>
          </p14:sldIdLst>
        </p14:section>
        <p14:section name="Anglais pro" id="{D25305E5-CBB4-FF41-B5EC-64269CCD7AEC}">
          <p14:sldIdLst>
            <p14:sldId id="273"/>
            <p14:sldId id="266"/>
          </p14:sldIdLst>
        </p14:section>
        <p14:section name="Anglais sc." id="{414DDAFC-0D4C-1141-AE2A-8C2A05D1C951}">
          <p14:sldIdLst>
            <p14:sldId id="268"/>
            <p14:sldId id="270"/>
          </p14:sldIdLst>
        </p14:section>
        <p14:section name="Conclusion" id="{AB6EAE06-6802-7246-8716-400322E23B7E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11" autoAdjust="0"/>
    <p:restoredTop sz="86418" autoAdjust="0"/>
  </p:normalViewPr>
  <p:slideViewPr>
    <p:cSldViewPr snapToGrid="0" showGuides="1">
      <p:cViewPr varScale="1">
        <p:scale>
          <a:sx n="112" d="100"/>
          <a:sy n="112" d="100"/>
        </p:scale>
        <p:origin x="480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75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37" d="100"/>
          <a:sy n="137" d="100"/>
        </p:scale>
        <p:origin x="4744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E520D69-B2A6-4651-85F3-992158983495}" type="datetime1">
              <a:rPr lang="en-GB" smtClean="0"/>
              <a:t>14/05/2020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6834459-7356-44BF-850D-8B30C4FB3B6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10B0BC-5F5A-4563-8D5F-5EBE8705E78B}" type="datetime1">
              <a:rPr lang="en-GB" noProof="0" smtClean="0"/>
              <a:pPr/>
              <a:t>14/05/2020</a:t>
            </a:fld>
            <a:endParaRPr lang="en-GB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A3C37BE-C303-496D-B5CD-85F2937540FC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E10B0BC-5F5A-4563-8D5F-5EBE8705E78B}" type="datetime1">
              <a:rPr lang="en-GB" noProof="0" smtClean="0"/>
              <a:pPr/>
              <a:t>14/05/2020</a:t>
            </a:fld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A3C37BE-C303-496D-B5CD-85F2937540FC}" type="slidenum">
              <a:rPr lang="en-GB" noProof="0" smtClean="0"/>
              <a:t>1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17607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E10B0BC-5F5A-4563-8D5F-5EBE8705E78B}" type="datetime1">
              <a:rPr lang="en-GB" noProof="0" smtClean="0"/>
              <a:pPr/>
              <a:t>14/05/2020</a:t>
            </a:fld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A3C37BE-C303-496D-B5CD-85F2937540FC}" type="slidenum">
              <a:rPr lang="en-GB" noProof="0" smtClean="0"/>
              <a:t>2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11377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E10B0BC-5F5A-4563-8D5F-5EBE8705E78B}" type="datetime1">
              <a:rPr lang="en-GB" noProof="0" smtClean="0"/>
              <a:pPr/>
              <a:t>14/05/2020</a:t>
            </a:fld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A3C37BE-C303-496D-B5CD-85F2937540FC}" type="slidenum">
              <a:rPr lang="en-GB" noProof="0" smtClean="0"/>
              <a:t>3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58326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E10B0BC-5F5A-4563-8D5F-5EBE8705E78B}" type="datetime1">
              <a:rPr lang="en-GB" noProof="0" smtClean="0"/>
              <a:pPr/>
              <a:t>14/05/2020</a:t>
            </a:fld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A3C37BE-C303-496D-B5CD-85F2937540FC}" type="slidenum">
              <a:rPr lang="en-GB" noProof="0" smtClean="0"/>
              <a:t>4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8686169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E10B0BC-5F5A-4563-8D5F-5EBE8705E78B}" type="datetime1">
              <a:rPr lang="en-GB" noProof="0" smtClean="0"/>
              <a:pPr/>
              <a:t>14/05/2020</a:t>
            </a:fld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A3C37BE-C303-496D-B5CD-85F2937540FC}" type="slidenum">
              <a:rPr lang="en-GB" noProof="0" smtClean="0"/>
              <a:t>5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239685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,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E10B0BC-5F5A-4563-8D5F-5EBE8705E78B}" type="datetime1">
              <a:rPr lang="en-GB" noProof="0" smtClean="0"/>
              <a:pPr/>
              <a:t>14/05/2020</a:t>
            </a:fld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A3C37BE-C303-496D-B5CD-85F2937540FC}" type="slidenum">
              <a:rPr lang="en-GB" noProof="0" smtClean="0"/>
              <a:t>6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9606099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E10B0BC-5F5A-4563-8D5F-5EBE8705E78B}" type="datetime1">
              <a:rPr lang="en-GB" noProof="0" smtClean="0"/>
              <a:pPr/>
              <a:t>14/05/2020</a:t>
            </a:fld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A3C37BE-C303-496D-B5CD-85F2937540FC}" type="slidenum">
              <a:rPr lang="en-GB" noProof="0" smtClean="0"/>
              <a:t>7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857479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E10B0BC-5F5A-4563-8D5F-5EBE8705E78B}" type="datetime1">
              <a:rPr lang="en-GB" noProof="0" smtClean="0"/>
              <a:pPr/>
              <a:t>14/05/2020</a:t>
            </a:fld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A3C37BE-C303-496D-B5CD-85F2937540FC}" type="slidenum">
              <a:rPr lang="en-GB" noProof="0" smtClean="0"/>
              <a:t>8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2900654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E10B0BC-5F5A-4563-8D5F-5EBE8705E78B}" type="datetime1">
              <a:rPr lang="en-GB" noProof="0" smtClean="0"/>
              <a:pPr/>
              <a:t>14/05/2020</a:t>
            </a:fld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A3C37BE-C303-496D-B5CD-85F2937540FC}" type="slidenum">
              <a:rPr lang="en-GB" noProof="0" smtClean="0"/>
              <a:t>9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3201356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E10B0BC-5F5A-4563-8D5F-5EBE8705E78B}" type="datetime1">
              <a:rPr lang="en-GB" noProof="0" smtClean="0"/>
              <a:pPr/>
              <a:t>14/05/2020</a:t>
            </a:fld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A3C37BE-C303-496D-B5CD-85F2937540FC}" type="slidenum">
              <a:rPr lang="en-GB" noProof="0" smtClean="0"/>
              <a:t>10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1650340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FE10B0BC-5F5A-4563-8D5F-5EBE8705E78B}" type="datetime1">
              <a:rPr lang="en-GB" noProof="0" smtClean="0"/>
              <a:pPr/>
              <a:t>14/05/2020</a:t>
            </a:fld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A3C37BE-C303-496D-B5CD-85F2937540FC}" type="slidenum">
              <a:rPr lang="en-GB" noProof="0" smtClean="0"/>
              <a:t>11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387954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>
              <a:defRPr sz="4400" cap="all" baseline="0"/>
            </a:lvl1pPr>
          </a:lstStyle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22B4CE67-49A1-4954-B535-D011B21685D9}" type="datetime1">
              <a:rPr lang="en-GB" noProof="0" smtClean="0"/>
              <a:pPr/>
              <a:t>14/05/2020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5DD289-6BAF-4A45-916C-D40E9AFEB6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963" y="0"/>
            <a:ext cx="11188074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5A2EB74-D6DB-40B9-8AC8-BA8DD588C21F}" type="datetime1">
              <a:rPr lang="en-GB" noProof="0" smtClean="0"/>
              <a:pPr/>
              <a:t>14/05/2020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>
              <a:defRPr sz="4400" cap="all" baseline="0"/>
            </a:lvl1pPr>
          </a:lstStyle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  <a:endParaRPr lang="en-GB" noProof="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  <a:endParaRPr lang="en-GB" noProof="0" dirty="0"/>
          </a:p>
        </p:txBody>
      </p:sp>
      <p:sp>
        <p:nvSpPr>
          <p:cNvPr id="19" name="Instructional Text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0"/>
            <a:r>
              <a:rPr lang="en-GB" sz="1200" b="1" i="1" noProof="0" dirty="0">
                <a:latin typeface="Arial" pitchFamily="34" charset="0"/>
                <a:cs typeface="Arial" pitchFamily="34" charset="0"/>
              </a:rPr>
              <a:t>NOTE:</a:t>
            </a:r>
          </a:p>
          <a:p>
            <a:pPr rtl="0"/>
            <a:r>
              <a:rPr lang="en-GB" sz="1200" i="1" noProof="0" dirty="0">
                <a:latin typeface="Arial" pitchFamily="34" charset="0"/>
                <a:cs typeface="Arial" pitchFamily="34" charset="0"/>
              </a:rPr>
              <a:t>To change the image on this slide, select the picture and delete it. Then click the Pictures icon in the placeholder to insert your own image.</a:t>
            </a:r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GB" noProof="0" dirty="0"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3CBF5231-8870-441E-8E82-3BE95C2D4F16}" type="datetime1">
              <a:rPr lang="en-GB" noProof="0" smtClean="0"/>
              <a:pPr/>
              <a:t>14/05/2020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en-GB" noProof="0" smtClean="0"/>
              <a:t>‹#›</a:t>
            </a:fld>
            <a:endParaRPr lang="en-GB" noProof="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EE79B3A-606E-AF49-ACA6-77A702C269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963" y="0"/>
            <a:ext cx="11188074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0E5344F-59C3-4858-8571-433797DFCF9E}" type="datetime1">
              <a:rPr lang="en-GB" noProof="0" smtClean="0"/>
              <a:pPr/>
              <a:t>14/05/2020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81E5EEB-F3F7-7D48-AB36-97CC2DF5A3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963" y="0"/>
            <a:ext cx="11188074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rtlCol="0"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rtlCol="0"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E16BA12-8505-4D9F-A29D-C64373B3BF05}" type="datetime1">
              <a:rPr lang="en-GB" noProof="0" smtClean="0"/>
              <a:pPr/>
              <a:t>14/05/2020</a:t>
            </a:fld>
            <a:endParaRPr lang="en-GB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70D8CA9-C44B-4D4A-A5C1-973DB36DB758}" type="datetime1">
              <a:rPr lang="en-GB" noProof="0" smtClean="0"/>
              <a:pPr/>
              <a:t>14/05/2020</a:t>
            </a:fld>
            <a:endParaRPr lang="en-GB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1224CF92-45F0-4F21-AF38-1A81E82CAE2B}" type="datetime1">
              <a:rPr lang="en-GB" noProof="0" smtClean="0"/>
              <a:pPr/>
              <a:t>14/05/2020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GB" noProof="0"/>
              <a:t>Click icon to add picture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A17A61D-7B9C-429F-ACCF-69D4850EF890}" type="datetime1">
              <a:rPr lang="en-GB" noProof="0" smtClean="0"/>
              <a:pPr/>
              <a:t>14/05/2020</a:t>
            </a:fld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6B0C9D9D-358B-4B6B-9CB9-B14223D14AA3}" type="datetime1">
              <a:rPr lang="en-GB" noProof="0" smtClean="0"/>
              <a:pPr/>
              <a:t>14/05/2020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en-GB" noProof="0"/>
              <a:t>Click to edit Master title style</a:t>
            </a:r>
            <a:endParaRPr lang="en-GB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4F5FE40-BBFB-4CB9-AAA5-59BD3AE478A7}" type="datetime1">
              <a:rPr lang="en-GB" noProof="0" smtClean="0"/>
              <a:pPr/>
              <a:t>14/05/2020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FF54DE5-C571-48E8-A5BC-B369434E2F44}" type="slidenum">
              <a:rPr lang="en-GB" noProof="0" smtClean="0"/>
              <a:t>‹#›</a:t>
            </a:fld>
            <a:endParaRPr lang="en-GB" noProof="0" dirty="0"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99EAA-B7AE-1C40-BA6F-02250116E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A45C43-F54D-A94B-9F1E-87A5DB420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354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2FEB5231-77C7-46B6-AE08-DF88FFC67703}" type="datetime1">
              <a:rPr lang="en-GB" noProof="0" smtClean="0"/>
              <a:pPr/>
              <a:t>14/05/2020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4539E-3A7B-464F-A011-61EAAF44A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718" y="2292094"/>
            <a:ext cx="6012232" cy="2219691"/>
          </a:xfrm>
        </p:spPr>
        <p:txBody>
          <a:bodyPr/>
          <a:lstStyle/>
          <a:p>
            <a:pPr marR="0" rtl="0"/>
            <a:r>
              <a:rPr lang="fr-FR" altLang="ja-JP" b="1" i="0" u="none" strike="noStrike" kern="1400" baseline="0" dirty="0"/>
              <a:t>Stéphane Jacquet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0E3377D-611A-FA46-A4F6-AF88209465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Stephane.Jacquet@ac-nice.fr  	06 36 05 67 80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82DBA544-0697-F448-BDCC-B225DAB1937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/>
          <a:stretch/>
        </p:blipFill>
        <p:spPr>
          <a:xfrm rot="5400000">
            <a:off x="7517816" y="815755"/>
            <a:ext cx="4176000" cy="5172367"/>
          </a:xfrm>
        </p:spPr>
      </p:pic>
    </p:spTree>
    <p:extLst>
      <p:ext uri="{BB962C8B-B14F-4D97-AF65-F5344CB8AC3E}">
        <p14:creationId xmlns:p14="http://schemas.microsoft.com/office/powerpoint/2010/main" val="3500086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98E8F-A398-F044-92A6-8C8EBD42F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fr-FR" altLang="ja-JP" b="1" i="0" u="none" strike="noStrike" baseline="0" dirty="0"/>
              <a:t>Parcours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84942-B540-0E49-BF71-03DB473EB5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5726824" cy="4571999"/>
          </a:xfrm>
        </p:spPr>
        <p:txBody>
          <a:bodyPr>
            <a:normAutofit fontScale="92500" lnSpcReduction="20000"/>
          </a:bodyPr>
          <a:lstStyle/>
          <a:p>
            <a:pPr marR="0" lvl="0" rtl="0"/>
            <a:r>
              <a:rPr lang="fr-FR" altLang="ja-JP" sz="2600" b="0" i="0" u="none" strike="noStrike" baseline="0" dirty="0"/>
              <a:t>Un parcours  professionnel riche:</a:t>
            </a:r>
          </a:p>
          <a:p>
            <a:pPr marR="0" lvl="0" rtl="0"/>
            <a:endParaRPr lang="fr-FR" altLang="ja-JP" sz="2400" b="0" i="0" u="none" strike="noStrike" baseline="0" dirty="0"/>
          </a:p>
          <a:p>
            <a:pPr marR="0" lvl="1" rtl="0"/>
            <a:r>
              <a:rPr lang="fr-FR" altLang="ja-JP" sz="2200" b="0" i="0" u="none" strike="noStrike" baseline="0" dirty="0"/>
              <a:t>Musicien professionnel</a:t>
            </a:r>
          </a:p>
          <a:p>
            <a:pPr marR="0" lvl="1" rtl="0"/>
            <a:r>
              <a:rPr lang="fr-FR" altLang="ja-JP" sz="2200" b="0" i="0" u="none" strike="noStrike" baseline="0" dirty="0"/>
              <a:t>Enseignant</a:t>
            </a:r>
            <a:r>
              <a:rPr lang="fr-FR" altLang="ja-JP" sz="2200" dirty="0"/>
              <a:t> Spécialisé d’Education Artistique </a:t>
            </a:r>
            <a:endParaRPr lang="fr-FR" altLang="ja-JP" sz="2200" b="0" i="0" u="none" strike="noStrike" baseline="0" dirty="0"/>
          </a:p>
          <a:p>
            <a:pPr marR="0" lvl="1" rtl="0"/>
            <a:r>
              <a:rPr lang="fr-FR" altLang="ja-JP" sz="2200" b="0" i="0" u="none" strike="noStrike" baseline="0" dirty="0"/>
              <a:t>Professeur d’anglais dans cinq pays </a:t>
            </a:r>
          </a:p>
          <a:p>
            <a:pPr marR="0" lvl="1" rtl="0"/>
            <a:r>
              <a:rPr lang="fr-FR" altLang="ja-JP" sz="2200" dirty="0"/>
              <a:t>5 ans dans l’enseignement supérieur en Angleterre</a:t>
            </a:r>
            <a:endParaRPr lang="fr-FR" altLang="ja-JP" sz="2200" b="0" i="0" u="none" strike="noStrike" baseline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547F6-581D-EA4D-BC1F-0BC96995BC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03327" y="1600200"/>
            <a:ext cx="4137101" cy="4571999"/>
          </a:xfrm>
        </p:spPr>
        <p:txBody>
          <a:bodyPr>
            <a:normAutofit fontScale="92500" lnSpcReduction="20000"/>
          </a:bodyPr>
          <a:lstStyle/>
          <a:p>
            <a:pPr lvl="0"/>
            <a:endParaRPr lang="fr-FR" altLang="ja-JP" dirty="0"/>
          </a:p>
          <a:p>
            <a:pPr lvl="0"/>
            <a:endParaRPr lang="fr-FR" altLang="ja-JP" dirty="0"/>
          </a:p>
          <a:p>
            <a:pPr lvl="0"/>
            <a:endParaRPr lang="fr-FR" altLang="ja-JP" dirty="0"/>
          </a:p>
          <a:p>
            <a:pPr lvl="0"/>
            <a:endParaRPr lang="fr-FR" altLang="ja-JP" dirty="0"/>
          </a:p>
          <a:p>
            <a:pPr marL="0" lvl="0" indent="0">
              <a:buNone/>
            </a:pPr>
            <a:endParaRPr lang="fr-FR" altLang="ja-JP" dirty="0"/>
          </a:p>
          <a:p>
            <a:pPr lvl="0"/>
            <a:r>
              <a:rPr lang="fr-FR" altLang="ja-JP" sz="2600" dirty="0"/>
              <a:t>Etudes:</a:t>
            </a:r>
          </a:p>
          <a:p>
            <a:pPr lvl="0"/>
            <a:endParaRPr lang="fr-FR" altLang="ja-JP" dirty="0"/>
          </a:p>
          <a:p>
            <a:pPr lvl="1"/>
            <a:r>
              <a:rPr lang="fr-FR" altLang="ja-JP" sz="2200" dirty="0"/>
              <a:t>Sciences de l’éducation</a:t>
            </a:r>
          </a:p>
          <a:p>
            <a:pPr lvl="1"/>
            <a:r>
              <a:rPr lang="fr-FR" altLang="ja-JP" sz="2200" dirty="0"/>
              <a:t>MA Education au développement</a:t>
            </a:r>
          </a:p>
          <a:p>
            <a:pPr lvl="1"/>
            <a:r>
              <a:rPr lang="fr-FR" altLang="ja-JP" sz="2200" dirty="0"/>
              <a:t>M2 Linguistique anglaise  </a:t>
            </a:r>
          </a:p>
          <a:p>
            <a:pPr lvl="1"/>
            <a:r>
              <a:rPr lang="fr-FR" altLang="ja-JP" sz="2200" dirty="0"/>
              <a:t>Agrégation externe  d’anglais 2019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4642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D49BF-FC4A-8247-A0D8-B90266873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fr-FR" altLang="ja-JP" b="1" i="0" u="none" strike="noStrike" baseline="0" dirty="0"/>
              <a:t>Des compétences multiples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93DB33-FCDF-9744-AA9A-6BCCFA8F6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fr-FR" altLang="ja-JP" b="0" i="0" u="none" strike="noStrike" baseline="0" dirty="0"/>
              <a:t>Langues étrangères</a:t>
            </a:r>
          </a:p>
          <a:p>
            <a:pPr marR="0" lvl="0" rtl="0"/>
            <a:r>
              <a:rPr lang="fr-FR" altLang="ja-JP" b="0" i="0" u="none" strike="noStrike" baseline="0" dirty="0"/>
              <a:t>Cultures / interculturalité</a:t>
            </a:r>
          </a:p>
          <a:p>
            <a:pPr marR="0" lvl="0" rtl="0"/>
            <a:r>
              <a:rPr lang="fr-FR" altLang="ja-JP" b="0" i="0" u="none" strike="noStrike" baseline="0" dirty="0"/>
              <a:t>Culture artistique</a:t>
            </a:r>
          </a:p>
          <a:p>
            <a:pPr marR="0" lvl="0" rtl="0"/>
            <a:r>
              <a:rPr lang="fr-FR" altLang="ja-JP" b="0" i="0" u="none" strike="noStrike" baseline="0" dirty="0"/>
              <a:t>Informatique </a:t>
            </a:r>
            <a:r>
              <a:rPr lang="fr-FR" altLang="ja-JP" dirty="0"/>
              <a:t>: </a:t>
            </a:r>
            <a:r>
              <a:rPr lang="fr-FR" altLang="ja-JP" b="0" i="0" u="none" strike="noStrike" baseline="0" dirty="0"/>
              <a:t>Programmation Python , bureautique, </a:t>
            </a:r>
            <a:r>
              <a:rPr lang="fr-FR" altLang="ja-JP" dirty="0"/>
              <a:t>e</a:t>
            </a:r>
            <a:r>
              <a:rPr lang="fr-FR" altLang="ja-JP" b="0" i="0" u="none" strike="noStrike" baseline="0" dirty="0"/>
              <a:t>nvironnements virtuels d’apprentissage.</a:t>
            </a:r>
          </a:p>
          <a:p>
            <a:pPr marR="0" lvl="0" rtl="0"/>
            <a:r>
              <a:rPr lang="fr-FR" altLang="ja-JP" dirty="0"/>
              <a:t> Linguistique</a:t>
            </a:r>
          </a:p>
          <a:p>
            <a:pPr marR="0" lvl="0" rtl="0"/>
            <a:r>
              <a:rPr lang="fr-FR" altLang="ja-JP" b="0" i="0" u="none" strike="noStrike" baseline="0" dirty="0"/>
              <a:t> Pédagogie</a:t>
            </a:r>
          </a:p>
          <a:p>
            <a:r>
              <a:rPr lang="fr-FR" altLang="ja-JP" dirty="0"/>
              <a:t> Faculté d’adaptation</a:t>
            </a:r>
          </a:p>
          <a:p>
            <a:pPr marR="0" lvl="0" rtl="0"/>
            <a:endParaRPr lang="fr-FR" altLang="ja-JP" b="0" i="0" u="none" strike="noStrike" baseline="0" dirty="0"/>
          </a:p>
        </p:txBody>
      </p:sp>
    </p:spTree>
    <p:extLst>
      <p:ext uri="{BB962C8B-B14F-4D97-AF65-F5344CB8AC3E}">
        <p14:creationId xmlns:p14="http://schemas.microsoft.com/office/powerpoint/2010/main" val="3541680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7A569-9BCA-FA4B-A794-6E678C14B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lvl="0" rtl="0"/>
            <a:r>
              <a:rPr lang="fr-FR" altLang="ja-JP" b="1" i="0" u="none" strike="noStrike" baseline="0" dirty="0"/>
              <a:t>Enseigner l’anglais à l’INSA</a:t>
            </a:r>
            <a:r>
              <a:rPr lang="fr-FR" altLang="ja-JP" b="1" dirty="0"/>
              <a:t> : Proposition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BF6F7-87D1-7C4C-A3D4-F753B0F1F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fr-FR" altLang="ja-JP" sz="2400" b="1" dirty="0"/>
              <a:t>Trois piliers</a:t>
            </a:r>
          </a:p>
          <a:p>
            <a:pPr marL="457200" lvl="1" indent="0" algn="ctr">
              <a:buNone/>
            </a:pPr>
            <a:endParaRPr lang="fr-FR" altLang="ja-JP" sz="2800" dirty="0"/>
          </a:p>
          <a:p>
            <a:pPr lvl="1">
              <a:lnSpc>
                <a:spcPct val="200000"/>
              </a:lnSpc>
            </a:pPr>
            <a:r>
              <a:rPr lang="fr-FR" altLang="ja-JP" sz="2000" b="0" i="0" u="none" strike="noStrike" baseline="0" dirty="0"/>
              <a:t>Compétences Interculturelles</a:t>
            </a:r>
          </a:p>
          <a:p>
            <a:pPr lvl="1">
              <a:lnSpc>
                <a:spcPct val="200000"/>
              </a:lnSpc>
            </a:pPr>
            <a:r>
              <a:rPr lang="fr-FR" altLang="ja-JP" sz="2000" dirty="0"/>
              <a:t>A</a:t>
            </a:r>
            <a:r>
              <a:rPr lang="fr-FR" altLang="ja-JP" sz="2000" b="0" i="0" u="none" strike="noStrike" baseline="0" dirty="0"/>
              <a:t>nglais professionnel </a:t>
            </a:r>
          </a:p>
          <a:p>
            <a:pPr lvl="1">
              <a:lnSpc>
                <a:spcPct val="200000"/>
              </a:lnSpc>
            </a:pPr>
            <a:r>
              <a:rPr lang="fr-FR" altLang="ja-JP" sz="2000" dirty="0"/>
              <a:t>A</a:t>
            </a:r>
            <a:r>
              <a:rPr lang="fr-FR" altLang="ja-JP" sz="2000" b="0" i="0" u="none" strike="noStrike" baseline="0" dirty="0"/>
              <a:t>nglais scientifique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1765293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D452F-0153-9A46-8940-221A3CD38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rtl="0"/>
            <a:r>
              <a:rPr lang="fr-FR" altLang="ja-JP" b="1" i="0" u="none" strike="noStrike" baseline="0" dirty="0"/>
              <a:t>Compétences interculturelles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0A925-9AE3-4C41-B49B-B2D3341D0E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9678714" cy="4571999"/>
          </a:xfrm>
        </p:spPr>
        <p:txBody>
          <a:bodyPr/>
          <a:lstStyle/>
          <a:p>
            <a:pPr lvl="0"/>
            <a:r>
              <a:rPr lang="fr-FR" altLang="ja-JP" sz="2400" dirty="0"/>
              <a:t>Des compétences indispensables aux ingénieurs</a:t>
            </a:r>
          </a:p>
          <a:p>
            <a:pPr lvl="0"/>
            <a:endParaRPr lang="fr-FR" altLang="ja-JP" sz="2400" b="0" i="0" u="none" strike="noStrike" baseline="0" dirty="0"/>
          </a:p>
          <a:p>
            <a:pPr lvl="0"/>
            <a:r>
              <a:rPr lang="fr-FR" altLang="ja-JP" b="0" i="0" u="none" strike="noStrike" baseline="0" dirty="0"/>
              <a:t>Un métier aux compétences universelles pour résoudre des problèmes globaux</a:t>
            </a:r>
          </a:p>
          <a:p>
            <a:pPr marR="0" lvl="0" rtl="0">
              <a:lnSpc>
                <a:spcPct val="150000"/>
              </a:lnSpc>
            </a:pPr>
            <a:r>
              <a:rPr lang="fr-FR" altLang="ja-JP" b="0" i="0" u="none" strike="noStrike" baseline="0" dirty="0"/>
              <a:t>Développer une sensibilité à la diversité culturelle et une sensibilité sociale</a:t>
            </a:r>
          </a:p>
          <a:p>
            <a:pPr marR="0" lvl="0" rtl="0">
              <a:lnSpc>
                <a:spcPct val="150000"/>
              </a:lnSpc>
            </a:pPr>
            <a:r>
              <a:rPr lang="fr-FR" altLang="ja-JP" b="0" i="0" u="none" strike="noStrike" baseline="0" dirty="0"/>
              <a:t>Développer la capacité à s’adapter dans des environnement culturels nouveaux</a:t>
            </a:r>
          </a:p>
        </p:txBody>
      </p:sp>
    </p:spTree>
    <p:extLst>
      <p:ext uri="{BB962C8B-B14F-4D97-AF65-F5344CB8AC3E}">
        <p14:creationId xmlns:p14="http://schemas.microsoft.com/office/powerpoint/2010/main" val="3644214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47062-72C8-CD4F-BC8A-88258AA3E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fr-FR" altLang="ja-JP" b="1" dirty="0"/>
              <a:t>C</a:t>
            </a:r>
            <a:r>
              <a:rPr lang="fr-FR" altLang="ja-JP" b="1" i="0" u="none" strike="noStrike" baseline="0" dirty="0"/>
              <a:t>ommuniquer avec le monde entier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BA227-301A-754D-A5C7-CDC66E198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R="0" lvl="0" rtl="0"/>
            <a:r>
              <a:rPr lang="fr-FR" altLang="ja-JP" sz="2400" b="0" i="0" u="none" strike="noStrike" baseline="0" dirty="0"/>
              <a:t> Amener les étudiants à s’interroger:</a:t>
            </a:r>
          </a:p>
          <a:p>
            <a:pPr marR="0" lvl="1" rtl="0"/>
            <a:r>
              <a:rPr lang="fr-FR" altLang="ja-JP" sz="2000" b="0" i="0" u="none" strike="noStrike" baseline="0" dirty="0"/>
              <a:t>Qu’est-ce que le langage?</a:t>
            </a:r>
          </a:p>
          <a:p>
            <a:pPr marR="0" lvl="1" rtl="0"/>
            <a:r>
              <a:rPr lang="fr-FR" altLang="ja-JP" sz="2000" dirty="0"/>
              <a:t>Qu’entend-on par le terme </a:t>
            </a:r>
            <a:r>
              <a:rPr lang="fr-FR" altLang="ja-JP" sz="2000" b="0" i="0" u="none" strike="noStrike" baseline="0" dirty="0"/>
              <a:t>« culture »?</a:t>
            </a:r>
          </a:p>
          <a:p>
            <a:pPr marR="0" lvl="1" rtl="0"/>
            <a:r>
              <a:rPr lang="fr-FR" altLang="ja-JP" sz="2000" b="0" i="0" u="none" strike="noStrike" baseline="0" dirty="0"/>
              <a:t>Théories de la communication.</a:t>
            </a:r>
          </a:p>
          <a:p>
            <a:pPr marR="0" lvl="1" rtl="0"/>
            <a:r>
              <a:rPr lang="fr-FR" altLang="ja-JP" sz="2000" b="0" i="0" u="none" strike="noStrike" baseline="0" dirty="0"/>
              <a:t>Ethnocentrisme et  ouverture aux autres perspectives.</a:t>
            </a:r>
          </a:p>
          <a:p>
            <a:pPr marR="0" lvl="0" rtl="0"/>
            <a:r>
              <a:rPr lang="fr-FR" altLang="ja-JP" sz="2400" b="0" i="0" u="none" strike="noStrike" baseline="0" dirty="0"/>
              <a:t> Apprendre l’anglais en développant une tolérance à ses variations (notamment   </a:t>
            </a:r>
            <a:r>
              <a:rPr lang="fr-FR" altLang="ja-JP" sz="2400" b="0" i="0" u="none" strike="noStrike" baseline="0" noProof="1"/>
              <a:t>phonologiques)</a:t>
            </a:r>
            <a:r>
              <a:rPr lang="fr-FR" altLang="ja-JP" sz="2400" b="0" i="0" u="none" strike="noStrike" baseline="0" dirty="0"/>
              <a:t>.</a:t>
            </a:r>
          </a:p>
          <a:p>
            <a:pPr marR="0" lvl="0" rtl="0"/>
            <a:endParaRPr lang="fr-FR" altLang="ja-JP" sz="2400" b="0" i="0" u="none" strike="noStrike" baseline="0" dirty="0"/>
          </a:p>
          <a:p>
            <a:r>
              <a:rPr lang="fr-FR" altLang="ja-JP" sz="2400" b="0" i="0" u="none" strike="noStrike" baseline="0" dirty="0"/>
              <a:t> Envisager l’anglais </a:t>
            </a:r>
            <a:r>
              <a:rPr lang="fr-FR" altLang="ja-JP" sz="2400" dirty="0"/>
              <a:t>comme</a:t>
            </a:r>
            <a:r>
              <a:rPr lang="fr-FR" altLang="ja-JP" sz="2400" b="0" i="0" u="none" strike="noStrike" baseline="0" dirty="0"/>
              <a:t> une des langues du citoyen du monde</a:t>
            </a:r>
          </a:p>
          <a:p>
            <a:pPr marR="0" lvl="1" rtl="0"/>
            <a:endParaRPr lang="fr-FR" altLang="ja-JP" b="0" i="0" u="none" strike="noStrike" baseline="0" dirty="0"/>
          </a:p>
        </p:txBody>
      </p:sp>
    </p:spTree>
    <p:extLst>
      <p:ext uri="{BB962C8B-B14F-4D97-AF65-F5344CB8AC3E}">
        <p14:creationId xmlns:p14="http://schemas.microsoft.com/office/powerpoint/2010/main" val="1131392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E00E850-36D9-B943-ACEA-7F5373E6790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6950" y="755650"/>
            <a:ext cx="10198100" cy="53467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6501D8F-5DB9-9145-8C28-5C2895192F15}"/>
              </a:ext>
            </a:extLst>
          </p:cNvPr>
          <p:cNvSpPr txBox="1">
            <a:spLocks/>
          </p:cNvSpPr>
          <p:nvPr/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altLang="ja-JP" b="1" dirty="0">
                <a:latin typeface="Garamond" panose="02020404030301010803" pitchFamily="18" charset="0"/>
              </a:rPr>
              <a:t>Anglais professionnel - Objectifs 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23399FA-F4CD-5045-92CC-612AA9E55B6F}"/>
              </a:ext>
            </a:extLst>
          </p:cNvPr>
          <p:cNvSpPr txBox="1">
            <a:spLocks/>
          </p:cNvSpPr>
          <p:nvPr/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altLang="ja-JP" dirty="0">
                <a:latin typeface="Garamond" panose="02020404030301010803" pitchFamily="18" charset="0"/>
              </a:rPr>
              <a:t> </a:t>
            </a:r>
          </a:p>
          <a:p>
            <a:pPr marL="0" indent="0">
              <a:buNone/>
            </a:pPr>
            <a:r>
              <a:rPr lang="fr-FR" altLang="ja-JP" sz="2400" dirty="0">
                <a:latin typeface="Garamond" panose="02020404030301010803" pitchFamily="18" charset="0"/>
              </a:rPr>
              <a:t>Aisance communicationnelle en anglais en contexte anglophone.</a:t>
            </a:r>
          </a:p>
          <a:p>
            <a:pPr marL="0" indent="0">
              <a:buNone/>
            </a:pPr>
            <a:endParaRPr lang="fr-FR" altLang="ja-JP" dirty="0">
              <a:latin typeface="Garamond" panose="02020404030301010803" pitchFamily="18" charset="0"/>
            </a:endParaRPr>
          </a:p>
          <a:p>
            <a:r>
              <a:rPr lang="fr-FR" altLang="ja-JP" dirty="0">
                <a:latin typeface="Garamond" panose="02020404030301010803" pitchFamily="18" charset="0"/>
              </a:rPr>
              <a:t>Exemple: CV, entretien d’embauche, lettre de motivation, etc.</a:t>
            </a:r>
          </a:p>
          <a:p>
            <a:r>
              <a:rPr lang="fr-FR" altLang="ja-JP" dirty="0">
                <a:latin typeface="Garamond" panose="02020404030301010803" pitchFamily="18" charset="0"/>
              </a:rPr>
              <a:t>Téléphone, courriels, </a:t>
            </a:r>
          </a:p>
          <a:p>
            <a:r>
              <a:rPr lang="fr-FR" altLang="ja-JP" dirty="0">
                <a:latin typeface="Garamond" panose="02020404030301010803" pitchFamily="18" charset="0"/>
              </a:rPr>
              <a:t>Répondre à un appel d’offre, rédiger un rapport, donner un exposé,</a:t>
            </a:r>
          </a:p>
          <a:p>
            <a:endParaRPr lang="fr-FR" altLang="ja-JP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988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1B5DB-9579-1C4C-8684-02AD62A30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fr-FR" altLang="ja-JP" b="1" i="0" u="none" strike="noStrike" baseline="0" dirty="0"/>
              <a:t>Supports et thèmes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957210-5C9F-4348-8B42-6937CD15B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altLang="ja-JP" sz="2400" dirty="0"/>
              <a:t>Créer des dispositifs qui simulent des situations réelles</a:t>
            </a:r>
          </a:p>
          <a:p>
            <a:pPr lvl="1"/>
            <a:r>
              <a:rPr lang="fr-FR" altLang="ja-JP" sz="2000" dirty="0"/>
              <a:t>Jeux de rôle</a:t>
            </a:r>
          </a:p>
          <a:p>
            <a:pPr lvl="1"/>
            <a:r>
              <a:rPr lang="fr-FR" altLang="ja-JP" sz="2000" dirty="0"/>
              <a:t>Pédagogie de projet (TBLT)</a:t>
            </a:r>
          </a:p>
          <a:p>
            <a:pPr lvl="1"/>
            <a:endParaRPr lang="fr-FR" altLang="ja-JP" sz="2000" dirty="0"/>
          </a:p>
          <a:p>
            <a:r>
              <a:rPr lang="fr-FR" altLang="ja-JP" sz="2400" dirty="0"/>
              <a:t> Mettre l’accent sur:</a:t>
            </a:r>
          </a:p>
          <a:p>
            <a:pPr lvl="1"/>
            <a:r>
              <a:rPr lang="fr-FR" altLang="ja-JP" sz="2000" dirty="0"/>
              <a:t>la communication</a:t>
            </a:r>
          </a:p>
          <a:p>
            <a:pPr lvl="1"/>
            <a:r>
              <a:rPr lang="fr-FR" altLang="ja-JP" sz="2000" dirty="0"/>
              <a:t>La collaboration</a:t>
            </a:r>
          </a:p>
          <a:p>
            <a:pPr lvl="1"/>
            <a:r>
              <a:rPr lang="fr-FR" altLang="ja-JP" sz="2000" dirty="0"/>
              <a:t>La différenciation pédagogique</a:t>
            </a:r>
          </a:p>
          <a:p>
            <a:pPr marL="0" indent="0">
              <a:buNone/>
            </a:pPr>
            <a:endParaRPr lang="fr-FR" altLang="ja-JP" dirty="0"/>
          </a:p>
          <a:p>
            <a:pPr marR="0" lvl="0" rtl="0"/>
            <a:endParaRPr lang="fr-FR" altLang="ja-JP" b="0" i="0" u="none" strike="noStrike" baseline="0" dirty="0"/>
          </a:p>
        </p:txBody>
      </p:sp>
    </p:spTree>
    <p:extLst>
      <p:ext uri="{BB962C8B-B14F-4D97-AF65-F5344CB8AC3E}">
        <p14:creationId xmlns:p14="http://schemas.microsoft.com/office/powerpoint/2010/main" val="99236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3586560-0411-FF4D-A8EF-2EBE2D6F9AA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212375"/>
            <a:ext cx="7663332" cy="53408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20FA9E-78D3-A54E-9200-161F68357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fr-FR" altLang="ja-JP" b="1" i="0" u="none" strike="noStrike" baseline="0" dirty="0"/>
              <a:t>Anglais scientifique - Objectifs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9A9DE51-DE8E-3048-8091-563A47CE9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8960" y="1600201"/>
            <a:ext cx="4168140" cy="4738606"/>
          </a:xfrm>
        </p:spPr>
        <p:txBody>
          <a:bodyPr>
            <a:normAutofit lnSpcReduction="10000"/>
          </a:bodyPr>
          <a:lstStyle/>
          <a:p>
            <a:pPr lvl="0"/>
            <a:r>
              <a:rPr lang="fr-FR" altLang="ja-JP" sz="2400" dirty="0"/>
              <a:t>Culture scientifique générale de l’ingénieur.</a:t>
            </a:r>
          </a:p>
          <a:p>
            <a:pPr lvl="1"/>
            <a:r>
              <a:rPr lang="fr-FR" altLang="ja-JP" sz="2000" dirty="0"/>
              <a:t>Les transformations du monde et leurs impacts sur les sociétés.</a:t>
            </a:r>
          </a:p>
          <a:p>
            <a:pPr lvl="2"/>
            <a:r>
              <a:rPr lang="fr-FR" altLang="ja-JP" sz="2000" dirty="0"/>
              <a:t>Nouvelles technologies</a:t>
            </a:r>
          </a:p>
          <a:p>
            <a:pPr lvl="2"/>
            <a:r>
              <a:rPr lang="fr-FR" altLang="ja-JP" sz="2000" dirty="0"/>
              <a:t> Intelligence artificielle</a:t>
            </a:r>
          </a:p>
          <a:p>
            <a:pPr lvl="2"/>
            <a:r>
              <a:rPr lang="fr-FR" altLang="ja-JP" sz="2000" dirty="0"/>
              <a:t> Génie Génétique</a:t>
            </a:r>
          </a:p>
          <a:p>
            <a:pPr lvl="2"/>
            <a:r>
              <a:rPr lang="fr-FR" altLang="ja-JP" sz="2000" dirty="0"/>
              <a:t> Recherche de nouvelles énergies</a:t>
            </a:r>
          </a:p>
          <a:p>
            <a:pPr lvl="2"/>
            <a:r>
              <a:rPr lang="fr-FR" altLang="ja-JP" sz="2000" dirty="0"/>
              <a:t>etc.</a:t>
            </a:r>
          </a:p>
          <a:p>
            <a:pPr lvl="2"/>
            <a:endParaRPr lang="fr-FR" altLang="ja-JP" dirty="0"/>
          </a:p>
          <a:p>
            <a:pPr lvl="2"/>
            <a:endParaRPr lang="fr-FR" altLang="ja-JP" dirty="0"/>
          </a:p>
          <a:p>
            <a:pPr lvl="0"/>
            <a:r>
              <a:rPr lang="fr-FR" altLang="ja-JP" sz="2400" b="1" dirty="0"/>
              <a:t> </a:t>
            </a:r>
            <a:r>
              <a:rPr lang="fr-FR" altLang="ja-JP" sz="2400" dirty="0"/>
              <a:t>Anglais de spécialité:</a:t>
            </a:r>
          </a:p>
          <a:p>
            <a:pPr lvl="1"/>
            <a:r>
              <a:rPr lang="fr-FR" altLang="ja-JP" sz="2000" dirty="0"/>
              <a:t> se</a:t>
            </a:r>
            <a:r>
              <a:rPr lang="fr-FR" altLang="ja-JP" sz="2000" baseline="0" dirty="0"/>
              <a:t> familiariser avec le genre discursif de sa spécialité</a:t>
            </a:r>
            <a:endParaRPr lang="fr-FR" altLang="ja-JP" sz="2000" dirty="0"/>
          </a:p>
          <a:p>
            <a:pPr lvl="0"/>
            <a:endParaRPr lang="fr-FR" altLang="ja-JP" b="1" dirty="0"/>
          </a:p>
          <a:p>
            <a:pPr lvl="0"/>
            <a:endParaRPr lang="fr-FR" altLang="ja-JP" dirty="0"/>
          </a:p>
        </p:txBody>
      </p:sp>
    </p:spTree>
    <p:extLst>
      <p:ext uri="{BB962C8B-B14F-4D97-AF65-F5344CB8AC3E}">
        <p14:creationId xmlns:p14="http://schemas.microsoft.com/office/powerpoint/2010/main" val="3339631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09A36-FD30-484B-B7B4-1C86C3A71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fr-FR" altLang="ja-JP" b="1" i="0" u="none" strike="noStrike" baseline="0" dirty="0"/>
              <a:t>Moyens didactiques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FA6B9A-C9DF-044A-B2F9-0551AC14B2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fr-FR" altLang="ja-JP" b="0" i="0" u="none" strike="noStrike" baseline="0" dirty="0"/>
              <a:t> </a:t>
            </a:r>
            <a:r>
              <a:rPr lang="fr-FR" altLang="ja-JP" sz="2400" b="0" i="0" u="none" strike="noStrike" baseline="0" dirty="0"/>
              <a:t>Favoriser la communication (orale et écrite) dans les genres discursifs pertinents.</a:t>
            </a:r>
          </a:p>
          <a:p>
            <a:pPr marR="0" lvl="0" rtl="0"/>
            <a:r>
              <a:rPr lang="fr-FR" altLang="ja-JP" sz="2400" b="0" i="0" u="none" strike="noStrike" baseline="0" dirty="0"/>
              <a:t> A partir de textes authentiques:</a:t>
            </a:r>
          </a:p>
          <a:p>
            <a:pPr marR="0" lvl="1" rtl="0"/>
            <a:r>
              <a:rPr lang="fr-FR" altLang="ja-JP" b="0" i="0" u="none" strike="noStrike" baseline="0" dirty="0"/>
              <a:t> </a:t>
            </a:r>
            <a:r>
              <a:rPr lang="fr-FR" altLang="ja-JP" sz="2000" b="0" i="0" u="none" strike="noStrike" baseline="0" dirty="0"/>
              <a:t>Vulgarisation scientifique</a:t>
            </a:r>
          </a:p>
          <a:p>
            <a:pPr marR="0" lvl="1" rtl="0"/>
            <a:r>
              <a:rPr lang="fr-FR" altLang="ja-JP" sz="2000" b="0" i="0" u="none" strike="noStrike" baseline="0" dirty="0"/>
              <a:t> Publications spécialisées</a:t>
            </a:r>
          </a:p>
          <a:p>
            <a:pPr marR="0" lvl="0" rtl="0"/>
            <a:r>
              <a:rPr lang="fr-FR" altLang="ja-JP" sz="2400" dirty="0"/>
              <a:t>Présentation structurée des  idées, débat, argumentation.</a:t>
            </a:r>
            <a:endParaRPr lang="fr-FR" altLang="ja-JP" sz="2400" b="0" i="0" u="none" strike="noStrike" baseline="0" dirty="0"/>
          </a:p>
          <a:p>
            <a:pPr marR="0" lvl="0" rtl="0"/>
            <a:endParaRPr lang="fr-FR" altLang="ja-JP" b="0" i="0" u="none" strike="noStrike" baseline="0" dirty="0"/>
          </a:p>
          <a:p>
            <a:pPr marR="0" lvl="1" rtl="0"/>
            <a:endParaRPr lang="fr-FR" altLang="ja-JP" b="0" i="0" u="none" strike="noStrike" baseline="0" dirty="0"/>
          </a:p>
          <a:p>
            <a:pPr marL="457200" marR="0" lvl="1" indent="0" rtl="0">
              <a:buNone/>
            </a:pPr>
            <a:endParaRPr lang="fr-FR" altLang="ja-JP" b="0" i="0" u="none" strike="noStrike" baseline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0D2022-22EB-CC4A-BF97-C4DB80BF01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lvl="0"/>
            <a:r>
              <a:rPr lang="fr-FR" altLang="ja-JP" sz="2400" dirty="0"/>
              <a:t>Genres discursifs et fonctions des textes.</a:t>
            </a:r>
          </a:p>
          <a:p>
            <a:pPr lvl="1"/>
            <a:r>
              <a:rPr lang="fr-FR" altLang="ja-JP" sz="2000" dirty="0"/>
              <a:t>Décrire (schémas, graphiques, plans, organigrammes, etc.)</a:t>
            </a:r>
          </a:p>
          <a:p>
            <a:pPr lvl="1"/>
            <a:r>
              <a:rPr lang="fr-FR" altLang="ja-JP" sz="2000" dirty="0"/>
              <a:t>Décrire des systèmes</a:t>
            </a:r>
          </a:p>
          <a:p>
            <a:pPr lvl="1"/>
            <a:r>
              <a:rPr lang="fr-FR" altLang="ja-JP" sz="2000" dirty="0"/>
              <a:t>Décrire des processus</a:t>
            </a:r>
          </a:p>
          <a:p>
            <a:pPr lvl="1"/>
            <a:r>
              <a:rPr lang="fr-FR" altLang="ja-JP" sz="2000" dirty="0"/>
              <a:t>Définir des concepts</a:t>
            </a:r>
          </a:p>
          <a:p>
            <a:pPr lvl="1"/>
            <a:r>
              <a:rPr lang="fr-FR" altLang="ja-JP" sz="2000" dirty="0"/>
              <a:t>Comparer - Evaluer</a:t>
            </a:r>
          </a:p>
          <a:p>
            <a:pPr lvl="1"/>
            <a:r>
              <a:rPr lang="fr-FR" altLang="ja-JP" sz="2000" dirty="0"/>
              <a:t>Causes et effets</a:t>
            </a:r>
          </a:p>
          <a:p>
            <a:pPr lvl="1"/>
            <a:r>
              <a:rPr lang="fr-FR" altLang="ja-JP" sz="2000" dirty="0"/>
              <a:t>Evaluer  (par ex: risques/bénéfices)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80592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9A32B-18D3-E243-8A49-609F0FDF1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fr-FR" altLang="ja-JP" b="1" i="0" u="none" strike="noStrike" baseline="0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AC963-C801-5345-A219-87C57344A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fr-FR" altLang="ja-JP" sz="2400" b="0" i="0" u="none" strike="noStrike" baseline="0" dirty="0"/>
              <a:t>Je propose d’aider les étudiants de l’INSA à:</a:t>
            </a:r>
          </a:p>
          <a:p>
            <a:pPr marR="0" lvl="0" rtl="0"/>
            <a:endParaRPr lang="fr-FR" altLang="ja-JP" b="0" i="0" u="none" strike="noStrike" baseline="0" dirty="0"/>
          </a:p>
          <a:p>
            <a:pPr marR="0" lvl="0" rtl="0"/>
            <a:r>
              <a:rPr lang="fr-FR" altLang="ja-JP" sz="2400" b="0" i="0" u="none" strike="noStrike" baseline="0" dirty="0"/>
              <a:t>Développer des compétences linguistiques pour </a:t>
            </a:r>
            <a:r>
              <a:rPr lang="fr-FR" altLang="ja-JP" sz="2400" dirty="0"/>
              <a:t>qu’ils sachent s’</a:t>
            </a:r>
            <a:r>
              <a:rPr lang="fr-FR" altLang="ja-JP" sz="2400" b="0" i="0" u="none" strike="noStrike" baseline="0" dirty="0"/>
              <a:t>intégrer dans un environnement professionnel anglophone.</a:t>
            </a:r>
          </a:p>
          <a:p>
            <a:pPr marR="0" lvl="0" rtl="0"/>
            <a:r>
              <a:rPr lang="fr-FR" altLang="ja-JP" sz="2400" dirty="0"/>
              <a:t>Développer une perspective cosmopolite sur le monde et ses problèmes.</a:t>
            </a:r>
          </a:p>
          <a:p>
            <a:pPr marR="0" lvl="0" rtl="0"/>
            <a:endParaRPr lang="fr-FR" altLang="ja-JP" b="0" i="0" u="none" strike="noStrike" baseline="0" dirty="0"/>
          </a:p>
          <a:p>
            <a:pPr marR="0" lvl="0" rtl="0"/>
            <a:r>
              <a:rPr lang="fr-FR" altLang="ja-JP" sz="2400" dirty="0"/>
              <a:t> Je pourrais m’appuyer  sur ma capacité:</a:t>
            </a:r>
          </a:p>
          <a:p>
            <a:pPr lvl="1"/>
            <a:r>
              <a:rPr lang="fr-FR" altLang="ja-JP" sz="2000" dirty="0"/>
              <a:t>A apprendre de mes étudiants,</a:t>
            </a:r>
          </a:p>
          <a:p>
            <a:pPr lvl="1"/>
            <a:r>
              <a:rPr lang="fr-FR" altLang="ja-JP" sz="2000" b="0" i="0" u="none" strike="noStrike" baseline="0" dirty="0"/>
              <a:t>A continuer d’étudier la linguistique appliquée (LANSAD),</a:t>
            </a:r>
          </a:p>
          <a:p>
            <a:pPr lvl="1"/>
            <a:r>
              <a:rPr lang="fr-FR" altLang="ja-JP" sz="2000" dirty="0"/>
              <a:t>A travailler avec mes collègues d’autres disciplines pour coordonner les enseignements.</a:t>
            </a:r>
            <a:endParaRPr lang="fr-FR" altLang="ja-JP" sz="2000" b="0" i="0" u="none" strike="noStrike" baseline="0" dirty="0"/>
          </a:p>
          <a:p>
            <a:pPr lvl="1"/>
            <a:endParaRPr lang="fr-FR" altLang="ja-JP" b="0" i="0" u="none" strike="noStrike" baseline="0" dirty="0"/>
          </a:p>
        </p:txBody>
      </p:sp>
    </p:spTree>
    <p:extLst>
      <p:ext uri="{BB962C8B-B14F-4D97-AF65-F5344CB8AC3E}">
        <p14:creationId xmlns:p14="http://schemas.microsoft.com/office/powerpoint/2010/main" val="1694693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12786043_TF03431380" id="{07BF4009-79A5-4904-9F0A-8BB88901F77F}" vid="{E001E2E9-9C41-4174-AA22-D51AC64C486F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CDDBB83-77C1-4099-A0AA-289882E745E2}">
  <ds:schemaRefs>
    <ds:schemaRef ds:uri="http://schemas.microsoft.com/office/2006/metadata/properties"/>
    <ds:schemaRef ds:uri="http://schemas.microsoft.com/office/infopath/2007/PartnerControls"/>
    <ds:schemaRef ds:uri="4873beb7-5857-4685-be1f-d57550cc96cc"/>
  </ds:schemaRefs>
</ds:datastoreItem>
</file>

<file path=customXml/itemProps3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 Literature 16x9</Template>
  <TotalTime>0</TotalTime>
  <Words>498</Words>
  <Application>Microsoft Macintosh PowerPoint</Application>
  <PresentationFormat>Widescreen</PresentationFormat>
  <Paragraphs>125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Euphemia</vt:lpstr>
      <vt:lpstr>Garamond</vt:lpstr>
      <vt:lpstr>Wingdings</vt:lpstr>
      <vt:lpstr>Academic Literature 16x9</vt:lpstr>
      <vt:lpstr>Stéphane Jacquet</vt:lpstr>
      <vt:lpstr>Parcours</vt:lpstr>
      <vt:lpstr>Des compétences multiples</vt:lpstr>
      <vt:lpstr>Enseigner l’anglais à l’INSA : Proposition</vt:lpstr>
      <vt:lpstr>Compétences interculturelles</vt:lpstr>
      <vt:lpstr>Communiquer avec le monde entier</vt:lpstr>
      <vt:lpstr>PowerPoint Presentation</vt:lpstr>
      <vt:lpstr>Supports et thèmes</vt:lpstr>
      <vt:lpstr>Anglais scientifique - Objectifs</vt:lpstr>
      <vt:lpstr>Moyens didactiques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Stephane Jacquet</dc:creator>
  <cp:keywords/>
  <dc:description/>
  <cp:lastModifiedBy/>
  <cp:revision>1</cp:revision>
  <dcterms:created xsi:type="dcterms:W3CDTF">2020-05-07T13:59:43Z</dcterms:created>
  <dcterms:modified xsi:type="dcterms:W3CDTF">2020-05-14T07:30:45Z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